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Lst>
  <p:sldSz cx="15113000" cy="21374100"/>
  <p:notesSz cx="6858000" cy="9144000"/>
  <p:embeddedFontLst>
    <p:embeddedFont>
      <p:font typeface="Arial Bold" charset="1" panose="020B0704020202020204"/>
      <p:regular r:id="rId7"/>
    </p:embeddedFont>
    <p:embeddedFont>
      <p:font typeface="Arial" charset="1" panose="020B0604020202020204"/>
      <p:regular r:id="rId8"/>
    </p:embeddedFont>
    <p:embeddedFont>
      <p:font typeface="Arial Italics" charset="1" panose="020B0604020202090204"/>
      <p:regular r:id="rId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fonts/font7.fntdata" Type="http://schemas.openxmlformats.org/officeDocument/2006/relationships/font"/><Relationship Id="rId8" Target="fonts/font8.fntdata" Type="http://schemas.openxmlformats.org/officeDocument/2006/relationships/font"/><Relationship Id="rId9" Target="fonts/font9.fntdata" Type="http://schemas.openxmlformats.org/officeDocument/2006/relationships/font"/></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https://www.weg.net/tomadas/blog/tecnologia/automacaoresidencial-o-que-e-como-funciona-e-quais-as-vantagens/" TargetMode="External" Type="http://schemas.openxmlformats.org/officeDocument/2006/relationships/hyperlink"/></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843324" y="4168535"/>
            <a:ext cx="4644712" cy="10596489"/>
            <a:chOff x="0" y="0"/>
            <a:chExt cx="3183471" cy="7262800"/>
          </a:xfrm>
        </p:grpSpPr>
        <p:sp>
          <p:nvSpPr>
            <p:cNvPr name="Freeform 3" id="3"/>
            <p:cNvSpPr/>
            <p:nvPr/>
          </p:nvSpPr>
          <p:spPr>
            <a:xfrm flipH="false" flipV="false" rot="0">
              <a:off x="3937" y="3937"/>
              <a:ext cx="3175635" cy="7254875"/>
            </a:xfrm>
            <a:custGeom>
              <a:avLst/>
              <a:gdLst/>
              <a:ahLst/>
              <a:cxnLst/>
              <a:rect r="r" b="b" t="t" l="l"/>
              <a:pathLst>
                <a:path h="7254875" w="3175635">
                  <a:moveTo>
                    <a:pt x="0" y="0"/>
                  </a:moveTo>
                  <a:lnTo>
                    <a:pt x="3175635" y="0"/>
                  </a:lnTo>
                  <a:lnTo>
                    <a:pt x="3175635" y="7254875"/>
                  </a:lnTo>
                  <a:lnTo>
                    <a:pt x="0" y="7254875"/>
                  </a:lnTo>
                  <a:close/>
                </a:path>
              </a:pathLst>
            </a:custGeom>
            <a:solidFill>
              <a:srgbClr val="1F4920"/>
            </a:solidFill>
          </p:spPr>
        </p:sp>
        <p:sp>
          <p:nvSpPr>
            <p:cNvPr name="Freeform 4" id="4"/>
            <p:cNvSpPr/>
            <p:nvPr/>
          </p:nvSpPr>
          <p:spPr>
            <a:xfrm flipH="false" flipV="false" rot="0">
              <a:off x="0" y="0"/>
              <a:ext cx="3183509" cy="7262749"/>
            </a:xfrm>
            <a:custGeom>
              <a:avLst/>
              <a:gdLst/>
              <a:ahLst/>
              <a:cxnLst/>
              <a:rect r="r" b="b" t="t" l="l"/>
              <a:pathLst>
                <a:path h="7262749" w="3183509">
                  <a:moveTo>
                    <a:pt x="3937" y="0"/>
                  </a:moveTo>
                  <a:lnTo>
                    <a:pt x="3179572" y="0"/>
                  </a:lnTo>
                  <a:cubicBezTo>
                    <a:pt x="3181731" y="0"/>
                    <a:pt x="3183509" y="1778"/>
                    <a:pt x="3183509" y="3937"/>
                  </a:cubicBezTo>
                  <a:lnTo>
                    <a:pt x="3183509" y="7258812"/>
                  </a:lnTo>
                  <a:cubicBezTo>
                    <a:pt x="3183509" y="7260971"/>
                    <a:pt x="3181731" y="7262749"/>
                    <a:pt x="3179572" y="7262749"/>
                  </a:cubicBezTo>
                  <a:lnTo>
                    <a:pt x="3937" y="7262749"/>
                  </a:lnTo>
                  <a:cubicBezTo>
                    <a:pt x="1778" y="7262749"/>
                    <a:pt x="0" y="7260971"/>
                    <a:pt x="0" y="7258812"/>
                  </a:cubicBezTo>
                  <a:lnTo>
                    <a:pt x="0" y="3937"/>
                  </a:lnTo>
                  <a:cubicBezTo>
                    <a:pt x="0" y="1778"/>
                    <a:pt x="1778" y="0"/>
                    <a:pt x="3937" y="0"/>
                  </a:cubicBezTo>
                  <a:moveTo>
                    <a:pt x="3937" y="7874"/>
                  </a:moveTo>
                  <a:lnTo>
                    <a:pt x="3937" y="3937"/>
                  </a:lnTo>
                  <a:lnTo>
                    <a:pt x="7874" y="3937"/>
                  </a:lnTo>
                  <a:lnTo>
                    <a:pt x="7874" y="7258812"/>
                  </a:lnTo>
                  <a:lnTo>
                    <a:pt x="3937" y="7258812"/>
                  </a:lnTo>
                  <a:lnTo>
                    <a:pt x="3937" y="7254875"/>
                  </a:lnTo>
                  <a:lnTo>
                    <a:pt x="3179572" y="7254875"/>
                  </a:lnTo>
                  <a:lnTo>
                    <a:pt x="3179572" y="7258812"/>
                  </a:lnTo>
                  <a:lnTo>
                    <a:pt x="3175635" y="7258812"/>
                  </a:lnTo>
                  <a:lnTo>
                    <a:pt x="3175635" y="3937"/>
                  </a:lnTo>
                  <a:lnTo>
                    <a:pt x="3179572" y="3937"/>
                  </a:lnTo>
                  <a:lnTo>
                    <a:pt x="3179572" y="7874"/>
                  </a:lnTo>
                  <a:lnTo>
                    <a:pt x="3937" y="7874"/>
                  </a:lnTo>
                  <a:close/>
                </a:path>
              </a:pathLst>
            </a:custGeom>
            <a:solidFill>
              <a:srgbClr val="196B24"/>
            </a:solidFill>
          </p:spPr>
        </p:sp>
      </p:grpSp>
      <p:grpSp>
        <p:nvGrpSpPr>
          <p:cNvPr name="Group 5" id="5"/>
          <p:cNvGrpSpPr/>
          <p:nvPr/>
        </p:nvGrpSpPr>
        <p:grpSpPr>
          <a:xfrm rot="0">
            <a:off x="207344" y="18230858"/>
            <a:ext cx="14758547" cy="1955946"/>
            <a:chOff x="0" y="0"/>
            <a:chExt cx="10115461" cy="1340599"/>
          </a:xfrm>
        </p:grpSpPr>
        <p:sp>
          <p:nvSpPr>
            <p:cNvPr name="Freeform 6" id="6"/>
            <p:cNvSpPr/>
            <p:nvPr/>
          </p:nvSpPr>
          <p:spPr>
            <a:xfrm flipH="false" flipV="false" rot="0">
              <a:off x="0" y="0"/>
              <a:ext cx="10115423" cy="1340612"/>
            </a:xfrm>
            <a:custGeom>
              <a:avLst/>
              <a:gdLst/>
              <a:ahLst/>
              <a:cxnLst/>
              <a:rect r="r" b="b" t="t" l="l"/>
              <a:pathLst>
                <a:path h="1340612" w="10115423">
                  <a:moveTo>
                    <a:pt x="0" y="0"/>
                  </a:moveTo>
                  <a:lnTo>
                    <a:pt x="10115423" y="0"/>
                  </a:lnTo>
                  <a:lnTo>
                    <a:pt x="10115423" y="1340612"/>
                  </a:lnTo>
                  <a:lnTo>
                    <a:pt x="0" y="1340612"/>
                  </a:lnTo>
                  <a:lnTo>
                    <a:pt x="0" y="0"/>
                  </a:lnTo>
                  <a:close/>
                </a:path>
              </a:pathLst>
            </a:custGeom>
            <a:blipFill>
              <a:blip r:embed="rId2"/>
              <a:stretch>
                <a:fillRect l="0" t="0" r="0" b="0"/>
              </a:stretch>
            </a:blipFill>
          </p:spPr>
        </p:sp>
      </p:grpSp>
      <p:grpSp>
        <p:nvGrpSpPr>
          <p:cNvPr name="Group 7" id="7"/>
          <p:cNvGrpSpPr/>
          <p:nvPr/>
        </p:nvGrpSpPr>
        <p:grpSpPr>
          <a:xfrm rot="0">
            <a:off x="332696" y="1230975"/>
            <a:ext cx="14326293" cy="2392110"/>
            <a:chOff x="0" y="0"/>
            <a:chExt cx="9819196" cy="1639545"/>
          </a:xfrm>
        </p:grpSpPr>
        <p:sp>
          <p:nvSpPr>
            <p:cNvPr name="Freeform 8" id="8"/>
            <p:cNvSpPr/>
            <p:nvPr/>
          </p:nvSpPr>
          <p:spPr>
            <a:xfrm flipH="false" flipV="false" rot="0">
              <a:off x="0" y="0"/>
              <a:ext cx="9819132" cy="1639570"/>
            </a:xfrm>
            <a:custGeom>
              <a:avLst/>
              <a:gdLst/>
              <a:ahLst/>
              <a:cxnLst/>
              <a:rect r="r" b="b" t="t" l="l"/>
              <a:pathLst>
                <a:path h="1639570" w="9819132">
                  <a:moveTo>
                    <a:pt x="0" y="0"/>
                  </a:moveTo>
                  <a:lnTo>
                    <a:pt x="9819132" y="0"/>
                  </a:lnTo>
                  <a:lnTo>
                    <a:pt x="9819132" y="1639570"/>
                  </a:lnTo>
                  <a:lnTo>
                    <a:pt x="0" y="1639570"/>
                  </a:lnTo>
                  <a:lnTo>
                    <a:pt x="0" y="0"/>
                  </a:lnTo>
                  <a:close/>
                </a:path>
              </a:pathLst>
            </a:custGeom>
            <a:blipFill>
              <a:blip r:embed="rId3"/>
              <a:stretch>
                <a:fillRect l="-19078" t="0" r="-19078" b="1"/>
              </a:stretch>
            </a:blipFill>
          </p:spPr>
        </p:sp>
      </p:grpSp>
      <p:sp>
        <p:nvSpPr>
          <p:cNvPr name="TextBox 9" id="9"/>
          <p:cNvSpPr txBox="true"/>
          <p:nvPr/>
        </p:nvSpPr>
        <p:spPr>
          <a:xfrm rot="0">
            <a:off x="1409032" y="1619645"/>
            <a:ext cx="9271599" cy="917987"/>
          </a:xfrm>
          <a:prstGeom prst="rect">
            <a:avLst/>
          </a:prstGeom>
        </p:spPr>
        <p:txBody>
          <a:bodyPr anchor="t" rtlCol="false" tIns="0" lIns="0" bIns="0" rIns="0">
            <a:spAutoFit/>
          </a:bodyPr>
          <a:lstStyle/>
          <a:p>
            <a:pPr algn="ctr">
              <a:lnSpc>
                <a:spcPts val="3901"/>
              </a:lnSpc>
            </a:pPr>
            <a:r>
              <a:rPr lang="en-US" sz="3251" b="true">
                <a:solidFill>
                  <a:srgbClr val="000000"/>
                </a:solidFill>
                <a:latin typeface="Arial Bold"/>
                <a:ea typeface="Arial Bold"/>
                <a:cs typeface="Arial Bold"/>
                <a:sym typeface="Arial Bold"/>
              </a:rPr>
              <a:t>Projeto de automaçao residencial </a:t>
            </a:r>
          </a:p>
          <a:p>
            <a:pPr algn="ctr">
              <a:lnSpc>
                <a:spcPts val="3179"/>
              </a:lnSpc>
            </a:pPr>
          </a:p>
        </p:txBody>
      </p:sp>
      <p:sp>
        <p:nvSpPr>
          <p:cNvPr name="TextBox 10" id="10"/>
          <p:cNvSpPr txBox="true"/>
          <p:nvPr/>
        </p:nvSpPr>
        <p:spPr>
          <a:xfrm rot="0">
            <a:off x="7673715" y="2756629"/>
            <a:ext cx="6462902" cy="500815"/>
          </a:xfrm>
          <a:prstGeom prst="rect">
            <a:avLst/>
          </a:prstGeom>
        </p:spPr>
        <p:txBody>
          <a:bodyPr anchor="t" rtlCol="false" tIns="0" lIns="0" bIns="0" rIns="0">
            <a:spAutoFit/>
          </a:bodyPr>
          <a:lstStyle/>
          <a:p>
            <a:pPr algn="r">
              <a:lnSpc>
                <a:spcPts val="2023"/>
              </a:lnSpc>
            </a:pPr>
            <a:r>
              <a:rPr lang="en-US" sz="1685">
                <a:solidFill>
                  <a:srgbClr val="000000"/>
                </a:solidFill>
                <a:latin typeface="Arial"/>
                <a:ea typeface="Arial"/>
                <a:cs typeface="Arial"/>
                <a:sym typeface="Arial"/>
              </a:rPr>
              <a:t>Auto01 Nicolas jacobini Autor01 (nicolas-silva@uergs.edu.br)</a:t>
            </a:r>
          </a:p>
          <a:p>
            <a:pPr algn="r">
              <a:lnSpc>
                <a:spcPts val="2023"/>
              </a:lnSpc>
            </a:pPr>
            <a:r>
              <a:rPr lang="en-US" sz="1685">
                <a:solidFill>
                  <a:srgbClr val="000000"/>
                </a:solidFill>
                <a:latin typeface="Arial"/>
                <a:ea typeface="Arial"/>
                <a:cs typeface="Arial"/>
                <a:sym typeface="Arial"/>
              </a:rPr>
              <a:t>Autor02 Ana Leziele</a:t>
            </a:r>
          </a:p>
        </p:txBody>
      </p:sp>
      <p:sp>
        <p:nvSpPr>
          <p:cNvPr name="TextBox 11" id="11"/>
          <p:cNvSpPr txBox="true"/>
          <p:nvPr/>
        </p:nvSpPr>
        <p:spPr>
          <a:xfrm rot="0">
            <a:off x="393914" y="3486799"/>
            <a:ext cx="3736301" cy="4664957"/>
          </a:xfrm>
          <a:prstGeom prst="rect">
            <a:avLst/>
          </a:prstGeom>
        </p:spPr>
        <p:txBody>
          <a:bodyPr anchor="t" rtlCol="false" tIns="0" lIns="0" bIns="0" rIns="0">
            <a:spAutoFit/>
          </a:bodyPr>
          <a:lstStyle/>
          <a:p>
            <a:pPr algn="l">
              <a:lnSpc>
                <a:spcPts val="2764"/>
              </a:lnSpc>
            </a:pPr>
            <a:r>
              <a:rPr lang="en-US" sz="2303" b="true">
                <a:solidFill>
                  <a:srgbClr val="000000"/>
                </a:solidFill>
                <a:latin typeface="Arial Bold"/>
                <a:ea typeface="Arial Bold"/>
                <a:cs typeface="Arial Bold"/>
                <a:sym typeface="Arial Bold"/>
              </a:rPr>
              <a:t>INTRODUÇÃO</a:t>
            </a:r>
          </a:p>
          <a:p>
            <a:pPr algn="just">
              <a:lnSpc>
                <a:spcPts val="1256"/>
              </a:lnSpc>
            </a:pPr>
            <a:r>
              <a:rPr lang="en-US" sz="1047">
                <a:solidFill>
                  <a:srgbClr val="383838"/>
                </a:solidFill>
                <a:latin typeface="Arial"/>
                <a:ea typeface="Arial"/>
                <a:cs typeface="Arial"/>
                <a:sym typeface="Arial"/>
              </a:rPr>
              <a:t>No Brasil, um número significativo de idosos reside sozinho. De acordo com o Instituto Brasileiro de Geografia e Estatística (IBGE), esse número ultrapassa 4 milhões. Quando analisamos a porcentagem de idosos que moram sozinhos em relação ao total de pessoas que moram sozinhas, o índice é de 15,3%. Além disso, entre as mulheres que moram sozinhas, quase 60% são idosas, enquanto entre os homens idosos que moram sozinhos, o índice é de 29,2% (IBGE, 2024). Esses dados evidenciam a importância de soluções que promovam autonomia, segurança e qualidade de vida para essa parcela da população.</a:t>
            </a:r>
          </a:p>
          <a:p>
            <a:pPr algn="just">
              <a:lnSpc>
                <a:spcPts val="1256"/>
              </a:lnSpc>
            </a:pPr>
            <a:r>
              <a:rPr lang="en-US" sz="1047">
                <a:solidFill>
                  <a:srgbClr val="383838"/>
                </a:solidFill>
                <a:latin typeface="Arial"/>
                <a:ea typeface="Arial"/>
                <a:cs typeface="Arial"/>
                <a:sym typeface="Arial"/>
              </a:rPr>
              <a:t>Com o crescimento da população idosa, Gouveia (2012) destaca a necessidade de ações que garantam qualidade de vida, compensando limitações físicas e sociais do envelhecimento. Nesse cenário, a automação residencial surge como aliada, oferecendo segurança, conforto e comunicação, além de reduzir barreiras de acesso aos ambientes.</a:t>
            </a:r>
          </a:p>
          <a:p>
            <a:pPr algn="just">
              <a:lnSpc>
                <a:spcPts val="1256"/>
              </a:lnSpc>
            </a:pPr>
            <a:r>
              <a:rPr lang="en-US" sz="1047">
                <a:solidFill>
                  <a:srgbClr val="383838"/>
                </a:solidFill>
                <a:latin typeface="Arial"/>
                <a:ea typeface="Arial"/>
                <a:cs typeface="Arial"/>
                <a:sym typeface="Arial"/>
              </a:rPr>
              <a:t>O projeto de Automação Residencial foi desenvolvido para proporcionar conveniência e acessibilidade, auxiliando inclusive pessoas com deficiência ao eliminar tarefas repetitivas. A integração de tecnologias inteligentes busca praticidade, eficiência energética e segurança, criando um ambiente funcional. A maquete interativa demonstrará, de forma prática, como esses recursos podem melhorar o bem-estar dos usuários.</a:t>
            </a:r>
          </a:p>
          <a:p>
            <a:pPr algn="just">
              <a:lnSpc>
                <a:spcPts val="1256"/>
              </a:lnSpc>
            </a:pPr>
          </a:p>
          <a:p>
            <a:pPr algn="just">
              <a:lnSpc>
                <a:spcPts val="1256"/>
              </a:lnSpc>
            </a:pPr>
          </a:p>
        </p:txBody>
      </p:sp>
      <p:sp>
        <p:nvSpPr>
          <p:cNvPr name="TextBox 12" id="12"/>
          <p:cNvSpPr txBox="true"/>
          <p:nvPr/>
        </p:nvSpPr>
        <p:spPr>
          <a:xfrm rot="0">
            <a:off x="5294353" y="3849994"/>
            <a:ext cx="4277478" cy="3825473"/>
          </a:xfrm>
          <a:prstGeom prst="rect">
            <a:avLst/>
          </a:prstGeom>
        </p:spPr>
        <p:txBody>
          <a:bodyPr anchor="t" rtlCol="false" tIns="0" lIns="0" bIns="0" rIns="0">
            <a:spAutoFit/>
          </a:bodyPr>
          <a:lstStyle/>
          <a:p>
            <a:pPr algn="l">
              <a:lnSpc>
                <a:spcPts val="3179"/>
              </a:lnSpc>
            </a:pPr>
            <a:r>
              <a:rPr lang="en-US" sz="2649" b="true">
                <a:solidFill>
                  <a:srgbClr val="000000"/>
                </a:solidFill>
                <a:latin typeface="Arial Bold"/>
                <a:ea typeface="Arial Bold"/>
                <a:cs typeface="Arial Bold"/>
                <a:sym typeface="Arial Bold"/>
              </a:rPr>
              <a:t>OBJETIVOS</a:t>
            </a:r>
          </a:p>
          <a:p>
            <a:pPr algn="l">
              <a:lnSpc>
                <a:spcPts val="1445"/>
              </a:lnSpc>
            </a:pPr>
          </a:p>
          <a:p>
            <a:pPr algn="l">
              <a:lnSpc>
                <a:spcPts val="1445"/>
              </a:lnSpc>
            </a:pPr>
            <a:r>
              <a:rPr lang="en-US" sz="1204" i="true">
                <a:solidFill>
                  <a:srgbClr val="000000"/>
                </a:solidFill>
                <a:latin typeface="Arial Italics"/>
                <a:ea typeface="Arial Italics"/>
                <a:cs typeface="Arial Italics"/>
                <a:sym typeface="Arial Italics"/>
              </a:rPr>
              <a:t>Este estudo, como objetivo geral, visa xxxx xxxx xxxx xxxx xxxx xxxx xxxx xxxx xxxx xxxx xxxx xxxx xxxx xxxx xxxx xxxx xxxx.</a:t>
            </a:r>
          </a:p>
          <a:p>
            <a:pPr algn="l">
              <a:lnSpc>
                <a:spcPts val="1445"/>
              </a:lnSpc>
            </a:pPr>
            <a:r>
              <a:rPr lang="en-US" sz="1204" i="true">
                <a:solidFill>
                  <a:srgbClr val="000000"/>
                </a:solidFill>
                <a:latin typeface="Arial Italics"/>
                <a:ea typeface="Arial Italics"/>
                <a:cs typeface="Arial Italics"/>
                <a:sym typeface="Arial Italics"/>
              </a:rPr>
              <a:t>Como objetivos específicos, o projeto prevê:</a:t>
            </a:r>
          </a:p>
          <a:p>
            <a:pPr algn="l">
              <a:lnSpc>
                <a:spcPts val="1445"/>
              </a:lnSpc>
            </a:pPr>
            <a:r>
              <a:rPr lang="en-US" sz="1204" i="true">
                <a:solidFill>
                  <a:srgbClr val="000000"/>
                </a:solidFill>
                <a:latin typeface="Arial Italics"/>
                <a:ea typeface="Arial Italics"/>
                <a:cs typeface="Arial Italics"/>
                <a:sym typeface="Arial Italics"/>
              </a:rPr>
              <a:t>a) xxxxx xxxxx xxxxx xxxxxx xxxxxx xxxxxx xxxxx xxxxx xxxxx xxxxx xxxxx xxxxx xxxx;</a:t>
            </a:r>
          </a:p>
          <a:p>
            <a:pPr algn="l">
              <a:lnSpc>
                <a:spcPts val="1445"/>
              </a:lnSpc>
            </a:pPr>
            <a:r>
              <a:rPr lang="en-US" sz="1204" i="true">
                <a:solidFill>
                  <a:srgbClr val="000000"/>
                </a:solidFill>
                <a:latin typeface="Arial Italics"/>
                <a:ea typeface="Arial Italics"/>
                <a:cs typeface="Arial Italics"/>
                <a:sym typeface="Arial Italics"/>
              </a:rPr>
              <a:t>b) xxxxx xxxxx xxxxx xxxxxx xxxxxx xxxxxx xxxxx xxxxx xxxxx xxxxx xxxxx xxxxx xxxx;</a:t>
            </a:r>
          </a:p>
          <a:p>
            <a:pPr algn="l">
              <a:lnSpc>
                <a:spcPts val="1445"/>
              </a:lnSpc>
            </a:pPr>
            <a:r>
              <a:rPr lang="en-US" sz="1204" i="true">
                <a:solidFill>
                  <a:srgbClr val="000000"/>
                </a:solidFill>
                <a:latin typeface="Arial Italics"/>
                <a:ea typeface="Arial Italics"/>
                <a:cs typeface="Arial Italics"/>
                <a:sym typeface="Arial Italics"/>
              </a:rPr>
              <a:t>c) xxxxx xxxxx xxxxx xxxxxx xxxxxx xxxxxx xxxxx xxxxx xxxxx xxxxx xxxxx xxxxx xxxx;</a:t>
            </a:r>
          </a:p>
          <a:p>
            <a:pPr algn="l">
              <a:lnSpc>
                <a:spcPts val="1445"/>
              </a:lnSpc>
            </a:pPr>
            <a:r>
              <a:rPr lang="en-US" sz="1204" i="true">
                <a:solidFill>
                  <a:srgbClr val="000000"/>
                </a:solidFill>
                <a:latin typeface="Arial Italics"/>
                <a:ea typeface="Arial Italics"/>
                <a:cs typeface="Arial Italics"/>
                <a:sym typeface="Arial Italics"/>
              </a:rPr>
              <a:t>d) xxxxx xxxxx xxxxx xxxxxx xxxxxx xxxxxx xxxxx xxxxx xxxxx xxxxx xxxxx xxxxx xxxx;</a:t>
            </a:r>
          </a:p>
          <a:p>
            <a:pPr algn="l">
              <a:lnSpc>
                <a:spcPts val="1445"/>
              </a:lnSpc>
            </a:pPr>
            <a:r>
              <a:rPr lang="en-US" sz="1204" i="true">
                <a:solidFill>
                  <a:srgbClr val="000000"/>
                </a:solidFill>
                <a:latin typeface="Arial Italics"/>
                <a:ea typeface="Arial Italics"/>
                <a:cs typeface="Arial Italics"/>
                <a:sym typeface="Arial Italics"/>
              </a:rPr>
              <a:t>e) xxxxx xxxxx xxxxx xxxxxx xxxxxx xxxxxx xxxxx xxxxx xxxxx xxxxx xxxxx xxxxx xxxx;</a:t>
            </a:r>
          </a:p>
          <a:p>
            <a:pPr algn="l">
              <a:lnSpc>
                <a:spcPts val="1445"/>
              </a:lnSpc>
            </a:pPr>
            <a:r>
              <a:rPr lang="en-US" sz="1204" i="true">
                <a:solidFill>
                  <a:srgbClr val="000000"/>
                </a:solidFill>
                <a:latin typeface="Arial Italics"/>
                <a:ea typeface="Arial Italics"/>
                <a:cs typeface="Arial Italics"/>
                <a:sym typeface="Arial Italics"/>
              </a:rPr>
              <a:t>f) xxxxx xxxxx xxxxx xxxxxx xxxxxx xxxxxx xxxxx xxxxx xxxxx xxxxx xxxxx xxxxx xxxxx xxxxx xxxxx xxxxx xxxxx xxxxx xxxxx xxxxx xxxxx xxxxx xxxxx xxxxx xxxxx xxxxx xxxxx xxxxx xxxxx xxxxx xxxxx xxxxx xxxxx xxxxx xxxxx xxxxx xxxxx xxxxx xxxxx xxxxx xxxxx xxxxx xxxxx xxxxx xxxxx xxxxx xxxxx xxxxx  xxxx.</a:t>
            </a:r>
          </a:p>
        </p:txBody>
      </p:sp>
      <p:sp>
        <p:nvSpPr>
          <p:cNvPr name="TextBox 13" id="13"/>
          <p:cNvSpPr txBox="true"/>
          <p:nvPr/>
        </p:nvSpPr>
        <p:spPr>
          <a:xfrm rot="0">
            <a:off x="661092" y="8019612"/>
            <a:ext cx="8857207" cy="3454829"/>
          </a:xfrm>
          <a:prstGeom prst="rect">
            <a:avLst/>
          </a:prstGeom>
        </p:spPr>
        <p:txBody>
          <a:bodyPr anchor="t" rtlCol="false" tIns="0" lIns="0" bIns="0" rIns="0">
            <a:spAutoFit/>
          </a:bodyPr>
          <a:lstStyle/>
          <a:p>
            <a:pPr algn="l">
              <a:lnSpc>
                <a:spcPts val="3179"/>
              </a:lnSpc>
            </a:pPr>
            <a:r>
              <a:rPr lang="en-US" sz="2649" b="true">
                <a:solidFill>
                  <a:srgbClr val="000000"/>
                </a:solidFill>
                <a:latin typeface="Arial Bold"/>
                <a:ea typeface="Arial Bold"/>
                <a:cs typeface="Arial Bold"/>
                <a:sym typeface="Arial Bold"/>
              </a:rPr>
              <a:t>RERENCIAL E MÉTODO</a:t>
            </a:r>
          </a:p>
          <a:p>
            <a:pPr algn="l">
              <a:lnSpc>
                <a:spcPts val="1445"/>
              </a:lnSpc>
            </a:pPr>
          </a:p>
          <a:p>
            <a:pPr algn="just">
              <a:lnSpc>
                <a:spcPts val="1445"/>
              </a:lnSpc>
            </a:pPr>
            <a:r>
              <a:rPr lang="en-US" sz="1204" i="true">
                <a:solidFill>
                  <a:srgbClr val="000000"/>
                </a:solidFill>
                <a:latin typeface="Arial Italics"/>
                <a:ea typeface="Arial Italics"/>
                <a:cs typeface="Arial Italics"/>
                <a:sym typeface="Arial Italics"/>
              </a:rPr>
              <a:t>&lt;Indique aqui o método a ser utilizado, baseado nas referências estudadas&gt;.</a:t>
            </a:r>
          </a:p>
          <a:p>
            <a:pPr algn="just">
              <a:lnSpc>
                <a:spcPts val="1445"/>
              </a:lnSpc>
            </a:pPr>
            <a:r>
              <a:rPr lang="en-US" sz="1204" i="true">
                <a:solidFill>
                  <a:srgbClr val="000000"/>
                </a:solidFill>
                <a:latin typeface="Arial Italics"/>
                <a:ea typeface="Arial Italics"/>
                <a:cs typeface="Arial Italics"/>
                <a:sym typeface="Arial Italics"/>
              </a:rPr>
              <a:t>&lt;Explique aqui o que será montado e como deverá funcionar&gt;.</a:t>
            </a:r>
          </a:p>
          <a:p>
            <a:pPr algn="just">
              <a:lnSpc>
                <a:spcPts val="1445"/>
              </a:lnSpc>
            </a:pPr>
            <a:r>
              <a:rPr lang="en-US" sz="1204" i="true">
                <a:solidFill>
                  <a:srgbClr val="000000"/>
                </a:solidFill>
                <a:latin typeface="Arial Italics"/>
                <a:ea typeface="Arial Italics"/>
                <a:cs typeface="Arial Italics"/>
                <a:sym typeface="Arial Italics"/>
              </a:rPr>
              <a:t>&lt;Indique também as tecnologias utilizadas e como chegou a elas&gt;.</a:t>
            </a:r>
          </a:p>
          <a:p>
            <a:pPr algn="just">
              <a:lnSpc>
                <a:spcPts val="1445"/>
              </a:lnSpc>
            </a:pPr>
            <a:r>
              <a:rPr lang="en-US" sz="1204" i="true">
                <a:solidFill>
                  <a:srgbClr val="000000"/>
                </a:solidFill>
                <a:latin typeface="Arial Italics"/>
                <a:ea typeface="Arial Italics"/>
                <a:cs typeface="Arial Italics"/>
                <a:sym typeface="Arial Italics"/>
              </a:rPr>
              <a:t>&lt;desenhos e diagramas devem ser colocador no desenho seguinte, todos na mesma imagem&gt;.</a:t>
            </a:r>
          </a:p>
          <a:p>
            <a:pPr algn="just">
              <a:lnSpc>
                <a:spcPts val="1445"/>
              </a:lnSpc>
            </a:pPr>
            <a:r>
              <a:rPr lang="en-US" sz="1204" i="true">
                <a:solidFill>
                  <a:srgbClr val="000000"/>
                </a:solidFill>
                <a:latin typeface="Arial Italics"/>
                <a:ea typeface="Arial Italics"/>
                <a:cs typeface="Arial Italics"/>
                <a:sym typeface="Arial Italics"/>
              </a:rPr>
              <a:t>xxxxxx xxxxxxxxxxx xxxxxx xxxxxxxxxxx xxxxxx xxxxxxxxxxx xxxxxx xxxxxxxxxxx xxxxxx xxxxxxxxxxx xxxxxx xxxxxxxxxxx xxxxxx xxxxxxxxxxx xxxxxx xxxxxxxxxxx xxxxxx xxxxxxxxxxx xxxxxx xxxxxxxxxxx xxxxxx xxxxxxxxxxx xxxxxx xxxxxxxxxxx xxxxxx xxxxxxxxxxx.</a:t>
            </a:r>
          </a:p>
          <a:p>
            <a:pPr algn="just">
              <a:lnSpc>
                <a:spcPts val="1445"/>
              </a:lnSpc>
            </a:pPr>
            <a:r>
              <a:rPr lang="en-US" sz="1204" i="true">
                <a:solidFill>
                  <a:srgbClr val="000000"/>
                </a:solidFill>
                <a:latin typeface="Arial Italics"/>
                <a:ea typeface="Arial Italics"/>
                <a:cs typeface="Arial Italics"/>
                <a:sym typeface="Arial Italics"/>
              </a:rPr>
              <a:t>xxxxx xxxxxxxxxxx xxxxxx xxxxxxxxxxx xxxxxx xxxxxxxxxxx xxxxxx xxxxxxxxxxx xxxxxx xxxxxxxxxxx xxxxxx xxxxxxxxxxx xxxxxx xxxxxxxxxxx xxxxxx xxxxxxxxxxx xxxxxx xxxxxxxxxxx xxxxxx xxxxxxxxxxx xxxxxx xxxxxxxxxxx xxxxxx xxxxxxxxxxx xxxxxx xxxxxxxxxxx.</a:t>
            </a:r>
          </a:p>
          <a:p>
            <a:pPr algn="just">
              <a:lnSpc>
                <a:spcPts val="1445"/>
              </a:lnSpc>
            </a:pPr>
            <a:r>
              <a:rPr lang="en-US" sz="1204" i="true">
                <a:solidFill>
                  <a:srgbClr val="000000"/>
                </a:solidFill>
                <a:latin typeface="Arial Italics"/>
                <a:ea typeface="Arial Italics"/>
                <a:cs typeface="Arial Italics"/>
                <a:sym typeface="Arial Italics"/>
              </a:rPr>
              <a:t>xxxxx xxxxxxxxxxx xxxxxx xxxxxxxxxxx xxxxxx xxxxxxxxxxx xxxxxx xxxxxxxxxxx xxxxxx xx.xxxxx xxxxxxxxxxx xxxxxx xxxxxxxxxxx xxxxxx xxxxxxxxxxx xxxxxx xxxxxxxxxxx xxxxxx xxxxxxxxxxx xxxxxx xxxxxxxxxxx xxxxxx xxxxxxxxxxx xxxxxx xxxxxxxxxxx xxxxxx xxxxxxxxxxx xxxxxx xxxxxxxxxxx xxxxxx xxxxxxxxxxx xxxxxx xxxxxxxxxxx xxxxxx xxxxxxxxxxx xxxxxx xxxxxxxxxxx xxxxxx xxxxxxxxxxx xxxxxx xxxxxxxxxxx xxxxxx xxxxxxxxxxx xxxxxx xxxxxxxxxxx xxxxxx xxxxxxxxxxx xxxxxx xxxxxxxxxxx xxxxxx xxxxxxxxxxx xxxxxx xxxxxxxxxxx xxxxxx xxxxxxxxxxx xxxxxx xxxxxxxxxxx xxxxxx xxxxxxxxxxx xxxxxx xxxxxxxxxxx xxxxxx xxxxxxx.</a:t>
            </a:r>
          </a:p>
          <a:p>
            <a:pPr algn="l">
              <a:lnSpc>
                <a:spcPts val="1445"/>
              </a:lnSpc>
            </a:pPr>
          </a:p>
        </p:txBody>
      </p:sp>
      <p:sp>
        <p:nvSpPr>
          <p:cNvPr name="TextBox 14" id="14"/>
          <p:cNvSpPr txBox="true"/>
          <p:nvPr/>
        </p:nvSpPr>
        <p:spPr>
          <a:xfrm rot="0">
            <a:off x="559069" y="16749559"/>
            <a:ext cx="8857207" cy="2528247"/>
          </a:xfrm>
          <a:prstGeom prst="rect">
            <a:avLst/>
          </a:prstGeom>
        </p:spPr>
        <p:txBody>
          <a:bodyPr anchor="t" rtlCol="false" tIns="0" lIns="0" bIns="0" rIns="0">
            <a:spAutoFit/>
          </a:bodyPr>
          <a:lstStyle/>
          <a:p>
            <a:pPr algn="l">
              <a:lnSpc>
                <a:spcPts val="3179"/>
              </a:lnSpc>
            </a:pPr>
            <a:r>
              <a:rPr lang="en-US" sz="2649" b="true">
                <a:solidFill>
                  <a:srgbClr val="000000"/>
                </a:solidFill>
                <a:latin typeface="Arial Bold"/>
                <a:ea typeface="Arial Bold"/>
                <a:cs typeface="Arial Bold"/>
                <a:sym typeface="Arial Bold"/>
              </a:rPr>
              <a:t>CONCLUSÃO</a:t>
            </a:r>
          </a:p>
          <a:p>
            <a:pPr algn="l">
              <a:lnSpc>
                <a:spcPts val="1445"/>
              </a:lnSpc>
            </a:pPr>
          </a:p>
          <a:p>
            <a:pPr algn="just">
              <a:lnSpc>
                <a:spcPts val="1445"/>
              </a:lnSpc>
            </a:pPr>
            <a:r>
              <a:rPr lang="en-US" sz="1204" i="true">
                <a:solidFill>
                  <a:srgbClr val="000000"/>
                </a:solidFill>
                <a:latin typeface="Arial Italics"/>
                <a:ea typeface="Arial Italics"/>
                <a:cs typeface="Arial Italics"/>
                <a:sym typeface="Arial Italics"/>
              </a:rPr>
              <a:t>&lt;descreva aqui os principais resultados objetivos no projeto, correlacionando os objetivos específicos com os resultados alcançados&gt;.</a:t>
            </a:r>
          </a:p>
          <a:p>
            <a:pPr algn="just">
              <a:lnSpc>
                <a:spcPts val="1445"/>
              </a:lnSpc>
            </a:pPr>
            <a:r>
              <a:rPr lang="en-US" sz="1204" i="true">
                <a:solidFill>
                  <a:srgbClr val="000000"/>
                </a:solidFill>
                <a:latin typeface="Arial Italics"/>
                <a:ea typeface="Arial Italics"/>
                <a:cs typeface="Arial Italics"/>
                <a:sym typeface="Arial Italics"/>
              </a:rPr>
              <a:t>&lt;Destaque as principais funcionalidades do projeto&gt;.</a:t>
            </a:r>
          </a:p>
          <a:p>
            <a:pPr algn="just">
              <a:lnSpc>
                <a:spcPts val="1445"/>
              </a:lnSpc>
            </a:pPr>
            <a:r>
              <a:rPr lang="en-US" sz="1204" i="true">
                <a:solidFill>
                  <a:srgbClr val="383838"/>
                </a:solidFill>
                <a:latin typeface="Arial Italics"/>
                <a:ea typeface="Arial Italics"/>
                <a:cs typeface="Arial Italics"/>
                <a:sym typeface="Arial Italics"/>
              </a:rPr>
              <a:t>&lt;Indique o que deu muito certo e o que não deu tão certo ou que podia melhorar&gt;.</a:t>
            </a:r>
          </a:p>
          <a:p>
            <a:pPr algn="just">
              <a:lnSpc>
                <a:spcPts val="1445"/>
              </a:lnSpc>
            </a:pPr>
            <a:r>
              <a:rPr lang="en-US" sz="1204" i="true">
                <a:solidFill>
                  <a:srgbClr val="383838"/>
                </a:solidFill>
                <a:latin typeface="Arial Italics"/>
                <a:ea typeface="Arial Italics"/>
                <a:cs typeface="Arial Italics"/>
                <a:sym typeface="Arial Italics"/>
              </a:rPr>
              <a:t>xxxxx xxxxx xxxxx xxxxx xxxxx xxxxx xxxxx xxxxx xxxxx xxxxx xxxxx xxxxx xxxxx xxxxx xxxxx xxxxx xxxxx xxxxx xxxxx xxxxx xxxxx xxxxx xxxxx xxxxx xxxxx xxxxx xxxxx xxxxx xxxxx xxxxx xxxxx xxxxx xxxxx xxxxx xxxxx xxxxx xxxxx xxxxx xxxxx xxxxx xxxxx xxxxx xxxxx xxxxx xxxxx xxxxx xxxxx xxxxx xxxxx xxxxx xxxxx xxxxx xxxxx xxxxx xxxxx xxxxx xxxxx xxxxx xxxxx xxxxx xxxxx xxxxx xxxxx xxxxx xxxxx xxxxx xxxxx xxxxx xxxxx xxxxx xxxxx xxxxx xxxxx xxxxx xxxxx xxxxx xxxxx xxxxx xxxxx.</a:t>
            </a:r>
          </a:p>
          <a:p>
            <a:pPr algn="just">
              <a:lnSpc>
                <a:spcPts val="1445"/>
              </a:lnSpc>
            </a:pPr>
            <a:r>
              <a:rPr lang="en-US" sz="1204" i="true">
                <a:solidFill>
                  <a:srgbClr val="383838"/>
                </a:solidFill>
                <a:latin typeface="Arial Italics"/>
                <a:ea typeface="Arial Italics"/>
                <a:cs typeface="Arial Italics"/>
                <a:sym typeface="Arial Italics"/>
              </a:rPr>
              <a:t>xxxxx xxxxx xxxxx xxxxx xxxxx xxxxx xxxxx xxxxx xxxxx xxxxx xxxxx xxxxx xxxxx xxxxx xxxxx xxxxx xxxxx xxxxx xxxxx xxxxx xxxxx xxxxx xxxxx xxxxx xxxxx xxxxx xxxxx xxxx xxxxx .</a:t>
            </a:r>
          </a:p>
          <a:p>
            <a:pPr algn="l">
              <a:lnSpc>
                <a:spcPts val="1445"/>
              </a:lnSpc>
            </a:pPr>
          </a:p>
        </p:txBody>
      </p:sp>
      <p:grpSp>
        <p:nvGrpSpPr>
          <p:cNvPr name="Group 15" id="15"/>
          <p:cNvGrpSpPr/>
          <p:nvPr/>
        </p:nvGrpSpPr>
        <p:grpSpPr>
          <a:xfrm rot="0">
            <a:off x="471740" y="11640799"/>
            <a:ext cx="9133888" cy="4656923"/>
            <a:chOff x="0" y="0"/>
            <a:chExt cx="6260338" cy="3191840"/>
          </a:xfrm>
        </p:grpSpPr>
        <p:sp>
          <p:nvSpPr>
            <p:cNvPr name="Freeform 16" id="16"/>
            <p:cNvSpPr/>
            <p:nvPr/>
          </p:nvSpPr>
          <p:spPr>
            <a:xfrm flipH="false" flipV="false" rot="0">
              <a:off x="0" y="0"/>
              <a:ext cx="6260338" cy="3191891"/>
            </a:xfrm>
            <a:custGeom>
              <a:avLst/>
              <a:gdLst/>
              <a:ahLst/>
              <a:cxnLst/>
              <a:rect r="r" b="b" t="t" l="l"/>
              <a:pathLst>
                <a:path h="3191891" w="6260338">
                  <a:moveTo>
                    <a:pt x="0" y="196596"/>
                  </a:moveTo>
                  <a:cubicBezTo>
                    <a:pt x="0" y="88011"/>
                    <a:pt x="88265" y="0"/>
                    <a:pt x="196977" y="0"/>
                  </a:cubicBezTo>
                  <a:lnTo>
                    <a:pt x="6063361" y="0"/>
                  </a:lnTo>
                  <a:lnTo>
                    <a:pt x="6063361" y="7874"/>
                  </a:lnTo>
                  <a:lnTo>
                    <a:pt x="6063361" y="0"/>
                  </a:lnTo>
                  <a:cubicBezTo>
                    <a:pt x="6172200" y="0"/>
                    <a:pt x="6260338" y="88011"/>
                    <a:pt x="6260338" y="196596"/>
                  </a:cubicBezTo>
                  <a:lnTo>
                    <a:pt x="6252464" y="196596"/>
                  </a:lnTo>
                  <a:lnTo>
                    <a:pt x="6260338" y="196596"/>
                  </a:lnTo>
                  <a:lnTo>
                    <a:pt x="6260338" y="2995295"/>
                  </a:lnTo>
                  <a:lnTo>
                    <a:pt x="6252464" y="2995295"/>
                  </a:lnTo>
                  <a:lnTo>
                    <a:pt x="6260338" y="2995295"/>
                  </a:lnTo>
                  <a:cubicBezTo>
                    <a:pt x="6260338" y="3103880"/>
                    <a:pt x="6172073" y="3191891"/>
                    <a:pt x="6063361" y="3191891"/>
                  </a:cubicBezTo>
                  <a:lnTo>
                    <a:pt x="6063361" y="3184017"/>
                  </a:lnTo>
                  <a:lnTo>
                    <a:pt x="6063361" y="3191891"/>
                  </a:lnTo>
                  <a:lnTo>
                    <a:pt x="196977" y="3191891"/>
                  </a:lnTo>
                  <a:lnTo>
                    <a:pt x="196977" y="3184017"/>
                  </a:lnTo>
                  <a:lnTo>
                    <a:pt x="196977" y="3191891"/>
                  </a:lnTo>
                  <a:cubicBezTo>
                    <a:pt x="88265" y="3191891"/>
                    <a:pt x="0" y="3103880"/>
                    <a:pt x="0" y="2995295"/>
                  </a:cubicBezTo>
                  <a:lnTo>
                    <a:pt x="0" y="196596"/>
                  </a:lnTo>
                  <a:lnTo>
                    <a:pt x="7874" y="196596"/>
                  </a:lnTo>
                  <a:lnTo>
                    <a:pt x="0" y="196596"/>
                  </a:lnTo>
                  <a:moveTo>
                    <a:pt x="15748" y="196596"/>
                  </a:moveTo>
                  <a:lnTo>
                    <a:pt x="15748" y="2995295"/>
                  </a:lnTo>
                  <a:lnTo>
                    <a:pt x="7874" y="2995295"/>
                  </a:lnTo>
                  <a:lnTo>
                    <a:pt x="15748" y="2995295"/>
                  </a:lnTo>
                  <a:cubicBezTo>
                    <a:pt x="15748" y="3095117"/>
                    <a:pt x="96901" y="3176143"/>
                    <a:pt x="196977" y="3176143"/>
                  </a:cubicBezTo>
                  <a:lnTo>
                    <a:pt x="6063361" y="3176143"/>
                  </a:lnTo>
                  <a:cubicBezTo>
                    <a:pt x="6163564" y="3176143"/>
                    <a:pt x="6244590" y="3095117"/>
                    <a:pt x="6244590" y="2995295"/>
                  </a:cubicBezTo>
                  <a:lnTo>
                    <a:pt x="6244590" y="196596"/>
                  </a:lnTo>
                  <a:cubicBezTo>
                    <a:pt x="6244590" y="96774"/>
                    <a:pt x="6163437" y="15748"/>
                    <a:pt x="6063361" y="15748"/>
                  </a:cubicBezTo>
                  <a:lnTo>
                    <a:pt x="196977" y="15748"/>
                  </a:lnTo>
                  <a:lnTo>
                    <a:pt x="196977" y="7874"/>
                  </a:lnTo>
                  <a:lnTo>
                    <a:pt x="196977" y="15748"/>
                  </a:lnTo>
                  <a:cubicBezTo>
                    <a:pt x="96901" y="15748"/>
                    <a:pt x="15748" y="96647"/>
                    <a:pt x="15748" y="196596"/>
                  </a:cubicBezTo>
                  <a:close/>
                </a:path>
              </a:pathLst>
            </a:custGeom>
            <a:solidFill>
              <a:srgbClr val="196B24"/>
            </a:solidFill>
          </p:spPr>
        </p:sp>
      </p:grpSp>
      <p:grpSp>
        <p:nvGrpSpPr>
          <p:cNvPr name="Group 17" id="17"/>
          <p:cNvGrpSpPr/>
          <p:nvPr/>
        </p:nvGrpSpPr>
        <p:grpSpPr>
          <a:xfrm rot="0">
            <a:off x="9945347" y="11557639"/>
            <a:ext cx="4425194" cy="3029096"/>
            <a:chOff x="0" y="0"/>
            <a:chExt cx="3033014" cy="2076132"/>
          </a:xfrm>
        </p:grpSpPr>
        <p:sp>
          <p:nvSpPr>
            <p:cNvPr name="Freeform 18" id="18"/>
            <p:cNvSpPr/>
            <p:nvPr/>
          </p:nvSpPr>
          <p:spPr>
            <a:xfrm flipH="false" flipV="false" rot="0">
              <a:off x="3937" y="3937"/>
              <a:ext cx="3025140" cy="2068322"/>
            </a:xfrm>
            <a:custGeom>
              <a:avLst/>
              <a:gdLst/>
              <a:ahLst/>
              <a:cxnLst/>
              <a:rect r="r" b="b" t="t" l="l"/>
              <a:pathLst>
                <a:path h="2068322" w="3025140">
                  <a:moveTo>
                    <a:pt x="0" y="255651"/>
                  </a:moveTo>
                  <a:cubicBezTo>
                    <a:pt x="0" y="114427"/>
                    <a:pt x="114554" y="0"/>
                    <a:pt x="255905" y="0"/>
                  </a:cubicBezTo>
                  <a:lnTo>
                    <a:pt x="2769235" y="0"/>
                  </a:lnTo>
                  <a:cubicBezTo>
                    <a:pt x="2910586" y="0"/>
                    <a:pt x="3025140" y="114427"/>
                    <a:pt x="3025140" y="255651"/>
                  </a:cubicBezTo>
                  <a:lnTo>
                    <a:pt x="3025140" y="1812671"/>
                  </a:lnTo>
                  <a:cubicBezTo>
                    <a:pt x="3025140" y="1953895"/>
                    <a:pt x="2910586" y="2068322"/>
                    <a:pt x="2769235" y="2068322"/>
                  </a:cubicBezTo>
                  <a:lnTo>
                    <a:pt x="255905" y="2068322"/>
                  </a:lnTo>
                  <a:cubicBezTo>
                    <a:pt x="114554" y="2068322"/>
                    <a:pt x="0" y="1953768"/>
                    <a:pt x="0" y="1812671"/>
                  </a:cubicBezTo>
                  <a:close/>
                </a:path>
              </a:pathLst>
            </a:custGeom>
            <a:solidFill>
              <a:srgbClr val="FFFFFF"/>
            </a:solidFill>
          </p:spPr>
        </p:sp>
        <p:sp>
          <p:nvSpPr>
            <p:cNvPr name="Freeform 19" id="19"/>
            <p:cNvSpPr/>
            <p:nvPr/>
          </p:nvSpPr>
          <p:spPr>
            <a:xfrm flipH="false" flipV="false" rot="0">
              <a:off x="0" y="0"/>
              <a:ext cx="3033014" cy="2076196"/>
            </a:xfrm>
            <a:custGeom>
              <a:avLst/>
              <a:gdLst/>
              <a:ahLst/>
              <a:cxnLst/>
              <a:rect r="r" b="b" t="t" l="l"/>
              <a:pathLst>
                <a:path h="2076196" w="3033014">
                  <a:moveTo>
                    <a:pt x="0" y="259588"/>
                  </a:moveTo>
                  <a:cubicBezTo>
                    <a:pt x="0" y="116205"/>
                    <a:pt x="116332" y="0"/>
                    <a:pt x="259842" y="0"/>
                  </a:cubicBezTo>
                  <a:lnTo>
                    <a:pt x="2773172" y="0"/>
                  </a:lnTo>
                  <a:lnTo>
                    <a:pt x="2773172" y="3937"/>
                  </a:lnTo>
                  <a:lnTo>
                    <a:pt x="2773172" y="0"/>
                  </a:lnTo>
                  <a:cubicBezTo>
                    <a:pt x="2916682" y="0"/>
                    <a:pt x="3033014" y="116205"/>
                    <a:pt x="3033014" y="259588"/>
                  </a:cubicBezTo>
                  <a:lnTo>
                    <a:pt x="3029077" y="259588"/>
                  </a:lnTo>
                  <a:lnTo>
                    <a:pt x="3033014" y="259588"/>
                  </a:lnTo>
                  <a:lnTo>
                    <a:pt x="3033014" y="1816608"/>
                  </a:lnTo>
                  <a:lnTo>
                    <a:pt x="3029077" y="1816608"/>
                  </a:lnTo>
                  <a:lnTo>
                    <a:pt x="3033014" y="1816608"/>
                  </a:lnTo>
                  <a:cubicBezTo>
                    <a:pt x="3033014" y="1959991"/>
                    <a:pt x="2916682" y="2076196"/>
                    <a:pt x="2773172" y="2076196"/>
                  </a:cubicBezTo>
                  <a:lnTo>
                    <a:pt x="2773172" y="2072259"/>
                  </a:lnTo>
                  <a:lnTo>
                    <a:pt x="2773172" y="2076196"/>
                  </a:lnTo>
                  <a:lnTo>
                    <a:pt x="259842" y="2076196"/>
                  </a:lnTo>
                  <a:lnTo>
                    <a:pt x="259842" y="2072259"/>
                  </a:lnTo>
                  <a:lnTo>
                    <a:pt x="259842" y="2076196"/>
                  </a:lnTo>
                  <a:cubicBezTo>
                    <a:pt x="116332" y="2076196"/>
                    <a:pt x="0" y="1959991"/>
                    <a:pt x="0" y="1816608"/>
                  </a:cubicBezTo>
                  <a:lnTo>
                    <a:pt x="0" y="259588"/>
                  </a:lnTo>
                  <a:lnTo>
                    <a:pt x="3937" y="259588"/>
                  </a:lnTo>
                  <a:lnTo>
                    <a:pt x="0" y="259588"/>
                  </a:lnTo>
                  <a:moveTo>
                    <a:pt x="7874" y="259588"/>
                  </a:moveTo>
                  <a:lnTo>
                    <a:pt x="7874" y="1816608"/>
                  </a:lnTo>
                  <a:lnTo>
                    <a:pt x="3937" y="1816608"/>
                  </a:lnTo>
                  <a:lnTo>
                    <a:pt x="7874" y="1816608"/>
                  </a:lnTo>
                  <a:cubicBezTo>
                    <a:pt x="7874" y="1955546"/>
                    <a:pt x="120650" y="2068322"/>
                    <a:pt x="259842" y="2068322"/>
                  </a:cubicBezTo>
                  <a:lnTo>
                    <a:pt x="2773172" y="2068322"/>
                  </a:lnTo>
                  <a:cubicBezTo>
                    <a:pt x="2912364" y="2068322"/>
                    <a:pt x="3025140" y="1955673"/>
                    <a:pt x="3025140" y="1816608"/>
                  </a:cubicBezTo>
                  <a:lnTo>
                    <a:pt x="3025140" y="259588"/>
                  </a:lnTo>
                  <a:cubicBezTo>
                    <a:pt x="3025140" y="120523"/>
                    <a:pt x="2912364" y="7874"/>
                    <a:pt x="2773172" y="7874"/>
                  </a:cubicBezTo>
                  <a:lnTo>
                    <a:pt x="259842" y="7874"/>
                  </a:lnTo>
                  <a:lnTo>
                    <a:pt x="259842" y="3937"/>
                  </a:lnTo>
                  <a:lnTo>
                    <a:pt x="259842" y="7874"/>
                  </a:lnTo>
                  <a:cubicBezTo>
                    <a:pt x="120650" y="7874"/>
                    <a:pt x="7874" y="120523"/>
                    <a:pt x="7874" y="259588"/>
                  </a:cubicBezTo>
                  <a:close/>
                </a:path>
              </a:pathLst>
            </a:custGeom>
            <a:solidFill>
              <a:srgbClr val="196B24"/>
            </a:solidFill>
          </p:spPr>
        </p:sp>
      </p:grpSp>
      <p:sp>
        <p:nvSpPr>
          <p:cNvPr name="TextBox 20" id="20"/>
          <p:cNvSpPr txBox="true"/>
          <p:nvPr/>
        </p:nvSpPr>
        <p:spPr>
          <a:xfrm rot="0">
            <a:off x="10050594" y="4244819"/>
            <a:ext cx="4277478" cy="7346469"/>
          </a:xfrm>
          <a:prstGeom prst="rect">
            <a:avLst/>
          </a:prstGeom>
        </p:spPr>
        <p:txBody>
          <a:bodyPr anchor="t" rtlCol="false" tIns="0" lIns="0" bIns="0" rIns="0">
            <a:spAutoFit/>
          </a:bodyPr>
          <a:lstStyle/>
          <a:p>
            <a:pPr algn="ctr">
              <a:lnSpc>
                <a:spcPts val="3179"/>
              </a:lnSpc>
            </a:pPr>
            <a:r>
              <a:rPr lang="en-US" sz="2649" b="true">
                <a:solidFill>
                  <a:srgbClr val="FFFFFF"/>
                </a:solidFill>
                <a:latin typeface="Arial Bold"/>
                <a:ea typeface="Arial Bold"/>
                <a:cs typeface="Arial Bold"/>
                <a:sym typeface="Arial Bold"/>
              </a:rPr>
              <a:t>RESULTADOS</a:t>
            </a:r>
          </a:p>
          <a:p>
            <a:pPr algn="just">
              <a:lnSpc>
                <a:spcPts val="1445"/>
              </a:lnSpc>
            </a:pPr>
          </a:p>
          <a:p>
            <a:pPr algn="just">
              <a:lnSpc>
                <a:spcPts val="1445"/>
              </a:lnSpc>
            </a:pPr>
            <a:r>
              <a:rPr lang="en-US" sz="1204" i="true">
                <a:solidFill>
                  <a:srgbClr val="FFFFFF"/>
                </a:solidFill>
                <a:latin typeface="Arial Italics"/>
                <a:ea typeface="Arial Italics"/>
                <a:cs typeface="Arial Italics"/>
                <a:sym typeface="Arial Italics"/>
              </a:rPr>
              <a:t>&lt;Indique aqui a forma com que o projeto foi ensaiado para obter os resultados&gt;.</a:t>
            </a:r>
          </a:p>
          <a:p>
            <a:pPr algn="just">
              <a:lnSpc>
                <a:spcPts val="1445"/>
              </a:lnSpc>
            </a:pPr>
            <a:r>
              <a:rPr lang="en-US" sz="1204" i="true">
                <a:solidFill>
                  <a:srgbClr val="FFFFFF"/>
                </a:solidFill>
                <a:latin typeface="Arial Italics"/>
                <a:ea typeface="Arial Italics"/>
                <a:cs typeface="Arial Italics"/>
                <a:sym typeface="Arial Italics"/>
              </a:rPr>
              <a:t>&lt;Indique os resultados alcançados&gt;.</a:t>
            </a:r>
          </a:p>
          <a:p>
            <a:pPr algn="just">
              <a:lnSpc>
                <a:spcPts val="1445"/>
              </a:lnSpc>
            </a:pPr>
            <a:r>
              <a:rPr lang="en-US" sz="1204" i="true">
                <a:solidFill>
                  <a:srgbClr val="FFFFFF"/>
                </a:solidFill>
                <a:latin typeface="Arial Italics"/>
                <a:ea typeface="Arial Italics"/>
                <a:cs typeface="Arial Italics"/>
                <a:sym typeface="Arial Italics"/>
              </a:rPr>
              <a:t>&lt;Compare os resultados alcançados com os objetivos específicos&gt;.</a:t>
            </a:r>
          </a:p>
          <a:p>
            <a:pPr algn="just">
              <a:lnSpc>
                <a:spcPts val="1445"/>
              </a:lnSpc>
            </a:pPr>
            <a:r>
              <a:rPr lang="en-US" sz="1204" i="true">
                <a:solidFill>
                  <a:srgbClr val="FFFFFF"/>
                </a:solidFill>
                <a:latin typeface="Arial Italics"/>
                <a:ea typeface="Arial Italics"/>
                <a:cs typeface="Arial Italics"/>
                <a:sym typeface="Arial Italics"/>
              </a:rPr>
              <a:t>&lt;Analise os resultados, de forma crítica, baseado nas técnicas aplicadas&gt;.</a:t>
            </a:r>
          </a:p>
          <a:p>
            <a:pPr algn="just">
              <a:lnSpc>
                <a:spcPts val="1445"/>
              </a:lnSpc>
            </a:pPr>
            <a:r>
              <a:rPr lang="en-US" sz="1204" i="true">
                <a:solidFill>
                  <a:srgbClr val="FFFFFF"/>
                </a:solidFill>
                <a:latin typeface="Arial Italics"/>
                <a:ea typeface="Arial Italics"/>
                <a:cs typeface="Arial Italics"/>
                <a:sym typeface="Arial Italics"/>
              </a:rPr>
              <a:t>Xxxxxx xxxxx xxxxx xxxxx xxxxx xxxxx xxxxx xxxxx xxxxx xxxxx xxxxx xxxxx xxxxx xxxxx xxxxx xxxxx xxxxx xxxxx xxxxx xxxxx xxxxx xxxxx xxxxx xxxxx xxxxx.</a:t>
            </a:r>
          </a:p>
          <a:p>
            <a:pPr algn="just">
              <a:lnSpc>
                <a:spcPts val="1445"/>
              </a:lnSpc>
            </a:pPr>
            <a:r>
              <a:rPr lang="en-US" sz="1204" i="true">
                <a:solidFill>
                  <a:srgbClr val="FFFFFF"/>
                </a:solidFill>
                <a:latin typeface="Arial Italics"/>
                <a:ea typeface="Arial Italics"/>
                <a:cs typeface="Arial Italics"/>
                <a:sym typeface="Arial Italics"/>
              </a:rPr>
              <a:t>Xxxxxx xxxxx xxxxx xxxxx xxxxx xxxxx xxxxx xxxxx xxxxx xxxxx xxxxx xxxxx xxxxx xxxxx xxxxx xxxxx xxxxx xxxxx xxxxx xxxxx xxxxx xxxxx xxxxx xxxxx xxxxx.</a:t>
            </a:r>
          </a:p>
          <a:p>
            <a:pPr algn="just">
              <a:lnSpc>
                <a:spcPts val="1445"/>
              </a:lnSpc>
            </a:pPr>
            <a:r>
              <a:rPr lang="en-US" sz="1204" i="true">
                <a:solidFill>
                  <a:srgbClr val="FFFFFF"/>
                </a:solidFill>
                <a:latin typeface="Arial Italics"/>
                <a:ea typeface="Arial Italics"/>
                <a:cs typeface="Arial Italics"/>
                <a:sym typeface="Arial Italics"/>
              </a:rPr>
              <a:t>Xxxxxx xxxxx xxxxx xxxxx xxxxx xxxxx xxxxx xxxxx xxxxx xxxxx xxxxx xxxxx xxxxx xxxxx xxxxx xxxxx xxxxx xxxxx xxxxx xxxxx xxxxx xxxxx xxxxx xxxxx xxxxx.</a:t>
            </a:r>
          </a:p>
          <a:p>
            <a:pPr algn="just">
              <a:lnSpc>
                <a:spcPts val="1445"/>
              </a:lnSpc>
            </a:pPr>
            <a:r>
              <a:rPr lang="en-US" sz="1204" i="true">
                <a:solidFill>
                  <a:srgbClr val="FFFFFF"/>
                </a:solidFill>
                <a:latin typeface="Arial Italics"/>
                <a:ea typeface="Arial Italics"/>
                <a:cs typeface="Arial Italics"/>
                <a:sym typeface="Arial Italics"/>
              </a:rPr>
              <a:t>Xxxxxx xxxxx xxxxx xxxxx xxxxx xxxxx xxxxx xxxxx xxxxx xxxxx xxxxx xxxxx xxxxx xxxxx xxxxx xxxxx xxxxx xxxxx xxxxx xxxxx xxxxx xxxxx xxxxx xxxxx xxxxx.</a:t>
            </a:r>
          </a:p>
          <a:p>
            <a:pPr algn="just">
              <a:lnSpc>
                <a:spcPts val="1445"/>
              </a:lnSpc>
            </a:pPr>
            <a:r>
              <a:rPr lang="en-US" sz="1204" i="true">
                <a:solidFill>
                  <a:srgbClr val="FFFFFF"/>
                </a:solidFill>
                <a:latin typeface="Arial Italics"/>
                <a:ea typeface="Arial Italics"/>
                <a:cs typeface="Arial Italics"/>
                <a:sym typeface="Arial Italics"/>
              </a:rPr>
              <a:t>Xxxxxx xxxxx xxxxx xxxxx xxxxx xxxxx xxxxx xxxxx xxxxx xxxxx xxxxx xxxxx xxxxx xxxxx xxxxx xxxxx xxxxx xxxxx xxxxx xxxxx xxxxx xxxxx xxxxx xxxxx xxxxx.</a:t>
            </a:r>
          </a:p>
          <a:p>
            <a:pPr algn="just">
              <a:lnSpc>
                <a:spcPts val="1445"/>
              </a:lnSpc>
            </a:pPr>
            <a:r>
              <a:rPr lang="en-US" sz="1204" i="true">
                <a:solidFill>
                  <a:srgbClr val="FFFFFF"/>
                </a:solidFill>
                <a:latin typeface="Arial Italics"/>
                <a:ea typeface="Arial Italics"/>
                <a:cs typeface="Arial Italics"/>
                <a:sym typeface="Arial Italics"/>
              </a:rPr>
              <a:t>Xxxxxx xxxxx xxxxx xxxxx xxxxx xxxxx xxxxx xxxxx xxxxx xxxxx xxxxx xxxxx xxxxx xxxxx xxxxx xxxxx xxxxx xxxxx xxxxx xxxxx xxxxx xxxxx xxxxx xxxxx xxxxx.</a:t>
            </a:r>
          </a:p>
          <a:p>
            <a:pPr algn="just">
              <a:lnSpc>
                <a:spcPts val="1445"/>
              </a:lnSpc>
            </a:pPr>
            <a:r>
              <a:rPr lang="en-US" sz="1204" i="true">
                <a:solidFill>
                  <a:srgbClr val="FFFFFF"/>
                </a:solidFill>
                <a:latin typeface="Arial Italics"/>
                <a:ea typeface="Arial Italics"/>
                <a:cs typeface="Arial Italics"/>
                <a:sym typeface="Arial Italics"/>
              </a:rPr>
              <a:t>Xxxxxx xxxxx xxxxx xxxxx xxxxx xxxxx xxxxx xxxxx xxxxx xxxxx xxxxx xxxxx xxxxx xxxxx xxxxx xxxxx xxxxx xxxxx xxxxx xxxxx xxxxx.</a:t>
            </a:r>
          </a:p>
          <a:p>
            <a:pPr algn="just">
              <a:lnSpc>
                <a:spcPts val="1445"/>
              </a:lnSpc>
            </a:pPr>
            <a:r>
              <a:rPr lang="en-US" sz="1204" i="true">
                <a:solidFill>
                  <a:srgbClr val="FFFFFF"/>
                </a:solidFill>
                <a:latin typeface="Arial Italics"/>
                <a:ea typeface="Arial Italics"/>
                <a:cs typeface="Arial Italics"/>
                <a:sym typeface="Arial Italics"/>
              </a:rPr>
              <a:t>xxxxx xxxxx xxxxx xxxxx xxxxx xxxxx xxxxx xxxxx xxxxx xxxxx xxxxx.</a:t>
            </a:r>
          </a:p>
          <a:p>
            <a:pPr algn="just">
              <a:lnSpc>
                <a:spcPts val="1445"/>
              </a:lnSpc>
            </a:pPr>
            <a:r>
              <a:rPr lang="en-US" sz="1204" i="true">
                <a:solidFill>
                  <a:srgbClr val="FFFFFF"/>
                </a:solidFill>
                <a:latin typeface="Arial Italics"/>
                <a:ea typeface="Arial Italics"/>
                <a:cs typeface="Arial Italics"/>
                <a:sym typeface="Arial Italics"/>
              </a:rPr>
              <a:t>xxxxx xxxxx xxxxx xxxxx xxxxx xxxxx xxxxx xxxxx xxxxx xxxxx xxxxx.</a:t>
            </a:r>
          </a:p>
          <a:p>
            <a:pPr algn="just">
              <a:lnSpc>
                <a:spcPts val="1445"/>
              </a:lnSpc>
            </a:pPr>
            <a:r>
              <a:rPr lang="en-US" sz="1204" i="true">
                <a:solidFill>
                  <a:srgbClr val="FFFFFF"/>
                </a:solidFill>
                <a:latin typeface="Arial Italics"/>
                <a:ea typeface="Arial Italics"/>
                <a:cs typeface="Arial Italics"/>
                <a:sym typeface="Arial Italics"/>
              </a:rPr>
              <a:t>xxxxx xxxxx xxxxx xxxxx xxxxx xxxxx xxxxx xxxxx xxxxx xxxxx xxxxx.</a:t>
            </a:r>
          </a:p>
          <a:p>
            <a:pPr algn="just">
              <a:lnSpc>
                <a:spcPts val="1445"/>
              </a:lnSpc>
            </a:pPr>
            <a:r>
              <a:rPr lang="en-US" sz="1204" i="true">
                <a:solidFill>
                  <a:srgbClr val="FFFFFF"/>
                </a:solidFill>
                <a:latin typeface="Arial Italics"/>
                <a:ea typeface="Arial Italics"/>
                <a:cs typeface="Arial Italics"/>
                <a:sym typeface="Arial Italics"/>
              </a:rPr>
              <a:t>xxxxx xxxxx xxxxx xxxxx xxxxx xxxxx xxxxx xxxxx xxxxx xxxxx xxxxx.</a:t>
            </a:r>
          </a:p>
        </p:txBody>
      </p:sp>
      <p:sp>
        <p:nvSpPr>
          <p:cNvPr name="TextBox 21" id="21"/>
          <p:cNvSpPr txBox="true"/>
          <p:nvPr/>
        </p:nvSpPr>
        <p:spPr>
          <a:xfrm rot="0">
            <a:off x="9777415" y="14745974"/>
            <a:ext cx="4761058" cy="2427803"/>
          </a:xfrm>
          <a:prstGeom prst="rect">
            <a:avLst/>
          </a:prstGeom>
        </p:spPr>
        <p:txBody>
          <a:bodyPr anchor="t" rtlCol="false" tIns="0" lIns="0" bIns="0" rIns="0">
            <a:spAutoFit/>
          </a:bodyPr>
          <a:lstStyle/>
          <a:p>
            <a:pPr algn="just">
              <a:lnSpc>
                <a:spcPts val="3179"/>
              </a:lnSpc>
            </a:pPr>
            <a:r>
              <a:rPr lang="en-US" sz="2649" b="true">
                <a:solidFill>
                  <a:srgbClr val="000000"/>
                </a:solidFill>
                <a:latin typeface="Arial Bold"/>
                <a:ea typeface="Arial Bold"/>
                <a:cs typeface="Arial Bold"/>
                <a:sym typeface="Arial Bold"/>
              </a:rPr>
              <a:t>REFERÊNCIAS</a:t>
            </a:r>
          </a:p>
          <a:p>
            <a:pPr algn="l">
              <a:lnSpc>
                <a:spcPts val="1011"/>
              </a:lnSpc>
            </a:pPr>
          </a:p>
          <a:p>
            <a:pPr algn="l">
              <a:lnSpc>
                <a:spcPts val="1011"/>
              </a:lnSpc>
            </a:pPr>
            <a:r>
              <a:rPr lang="en-US" sz="842">
                <a:solidFill>
                  <a:srgbClr val="383838"/>
                </a:solidFill>
                <a:latin typeface="Arial"/>
                <a:ea typeface="Arial"/>
                <a:cs typeface="Arial"/>
                <a:sym typeface="Arial"/>
              </a:rPr>
              <a:t>SIQUEIRA, Leonardo. APLICABILIDADES DA AUTOMAÇÃO</a:t>
            </a:r>
            <a:r>
              <a:rPr lang="en-US" sz="842">
                <a:solidFill>
                  <a:srgbClr val="383838"/>
                </a:solidFill>
                <a:latin typeface="Arial"/>
                <a:ea typeface="Arial"/>
                <a:cs typeface="Arial"/>
                <a:sym typeface="Arial"/>
              </a:rPr>
              <a:t> R</a:t>
            </a:r>
            <a:r>
              <a:rPr lang="en-US" sz="842">
                <a:solidFill>
                  <a:srgbClr val="383838"/>
                </a:solidFill>
                <a:latin typeface="Arial"/>
                <a:ea typeface="Arial"/>
                <a:cs typeface="Arial"/>
                <a:sym typeface="Arial"/>
              </a:rPr>
              <a:t>ESIDENCIAL PARA POPULAÇÃO IDOSA: UM ESTUDO DE CASO. 2023. D</a:t>
            </a:r>
            <a:r>
              <a:rPr lang="en-US" sz="842">
                <a:solidFill>
                  <a:srgbClr val="383838"/>
                </a:solidFill>
                <a:latin typeface="Arial"/>
                <a:ea typeface="Arial"/>
                <a:cs typeface="Arial"/>
                <a:sym typeface="Arial"/>
              </a:rPr>
              <a:t>i</a:t>
            </a:r>
            <a:r>
              <a:rPr lang="en-US" sz="842">
                <a:solidFill>
                  <a:srgbClr val="383838"/>
                </a:solidFill>
                <a:latin typeface="Arial"/>
                <a:ea typeface="Arial"/>
                <a:cs typeface="Arial"/>
                <a:sym typeface="Arial"/>
              </a:rPr>
              <a:t>sp</a:t>
            </a:r>
            <a:r>
              <a:rPr lang="en-US" sz="842">
                <a:solidFill>
                  <a:srgbClr val="383838"/>
                </a:solidFill>
                <a:latin typeface="Arial"/>
                <a:ea typeface="Arial"/>
                <a:cs typeface="Arial"/>
                <a:sym typeface="Arial"/>
              </a:rPr>
              <a:t>on</a:t>
            </a:r>
            <a:r>
              <a:rPr lang="en-US" sz="842">
                <a:solidFill>
                  <a:srgbClr val="383838"/>
                </a:solidFill>
                <a:latin typeface="Arial"/>
                <a:ea typeface="Arial"/>
                <a:cs typeface="Arial"/>
                <a:sym typeface="Arial"/>
              </a:rPr>
              <a:t>íve</a:t>
            </a:r>
            <a:r>
              <a:rPr lang="en-US" sz="842">
                <a:solidFill>
                  <a:srgbClr val="383838"/>
                </a:solidFill>
                <a:latin typeface="Arial"/>
                <a:ea typeface="Arial"/>
                <a:cs typeface="Arial"/>
                <a:sym typeface="Arial"/>
              </a:rPr>
              <a:t>l </a:t>
            </a:r>
            <a:r>
              <a:rPr lang="en-US" sz="842">
                <a:solidFill>
                  <a:srgbClr val="383838"/>
                </a:solidFill>
                <a:latin typeface="Arial"/>
                <a:ea typeface="Arial"/>
                <a:cs typeface="Arial"/>
                <a:sym typeface="Arial"/>
              </a:rPr>
              <a:t>em:</a:t>
            </a:r>
            <a:r>
              <a:rPr lang="en-US" sz="842">
                <a:solidFill>
                  <a:srgbClr val="383838"/>
                </a:solidFill>
                <a:latin typeface="Arial"/>
                <a:ea typeface="Arial"/>
                <a:cs typeface="Arial"/>
                <a:sym typeface="Arial"/>
              </a:rPr>
              <a:t> </a:t>
            </a:r>
            <a:r>
              <a:rPr lang="en-US" sz="842">
                <a:solidFill>
                  <a:srgbClr val="383838"/>
                </a:solidFill>
                <a:latin typeface="Arial"/>
                <a:ea typeface="Arial"/>
                <a:cs typeface="Arial"/>
                <a:sym typeface="Arial"/>
              </a:rPr>
              <a:t>.</a:t>
            </a:r>
            <a:r>
              <a:rPr lang="en-US" sz="842">
                <a:solidFill>
                  <a:srgbClr val="383838"/>
                </a:solidFill>
                <a:latin typeface="Arial"/>
                <a:ea typeface="Arial"/>
                <a:cs typeface="Arial"/>
                <a:sym typeface="Arial"/>
              </a:rPr>
              <a:t> </a:t>
            </a:r>
            <a:r>
              <a:rPr lang="en-US" sz="842">
                <a:solidFill>
                  <a:srgbClr val="383838"/>
                </a:solidFill>
                <a:latin typeface="Arial"/>
                <a:ea typeface="Arial"/>
                <a:cs typeface="Arial"/>
                <a:sym typeface="Arial"/>
              </a:rPr>
              <a:t>A</a:t>
            </a:r>
            <a:r>
              <a:rPr lang="en-US" sz="842">
                <a:solidFill>
                  <a:srgbClr val="383838"/>
                </a:solidFill>
                <a:latin typeface="Arial"/>
                <a:ea typeface="Arial"/>
                <a:cs typeface="Arial"/>
                <a:sym typeface="Arial"/>
              </a:rPr>
              <a:t>c</a:t>
            </a:r>
            <a:r>
              <a:rPr lang="en-US" sz="842">
                <a:solidFill>
                  <a:srgbClr val="383838"/>
                </a:solidFill>
                <a:latin typeface="Arial"/>
                <a:ea typeface="Arial"/>
                <a:cs typeface="Arial"/>
                <a:sym typeface="Arial"/>
              </a:rPr>
              <a:t>ess</a:t>
            </a:r>
            <a:r>
              <a:rPr lang="en-US" sz="842">
                <a:solidFill>
                  <a:srgbClr val="383838"/>
                </a:solidFill>
                <a:latin typeface="Arial"/>
                <a:ea typeface="Arial"/>
                <a:cs typeface="Arial"/>
                <a:sym typeface="Arial"/>
              </a:rPr>
              <a:t>o</a:t>
            </a:r>
            <a:r>
              <a:rPr lang="en-US" sz="842">
                <a:solidFill>
                  <a:srgbClr val="383838"/>
                </a:solidFill>
                <a:latin typeface="Arial"/>
                <a:ea typeface="Arial"/>
                <a:cs typeface="Arial"/>
                <a:sym typeface="Arial"/>
              </a:rPr>
              <a:t> e</a:t>
            </a:r>
            <a:r>
              <a:rPr lang="en-US" sz="842">
                <a:solidFill>
                  <a:srgbClr val="383838"/>
                </a:solidFill>
                <a:latin typeface="Arial"/>
                <a:ea typeface="Arial"/>
                <a:cs typeface="Arial"/>
                <a:sym typeface="Arial"/>
              </a:rPr>
              <a:t>m</a:t>
            </a:r>
            <a:r>
              <a:rPr lang="en-US" sz="842">
                <a:solidFill>
                  <a:srgbClr val="383838"/>
                </a:solidFill>
                <a:latin typeface="Arial"/>
                <a:ea typeface="Arial"/>
                <a:cs typeface="Arial"/>
                <a:sym typeface="Arial"/>
              </a:rPr>
              <a:t>: 20 abr. 2026.</a:t>
            </a:r>
          </a:p>
          <a:p>
            <a:pPr algn="l">
              <a:lnSpc>
                <a:spcPts val="1011"/>
              </a:lnSpc>
            </a:pPr>
            <a:r>
              <a:rPr lang="en-US" sz="842">
                <a:solidFill>
                  <a:srgbClr val="383838"/>
                </a:solidFill>
                <a:latin typeface="Arial"/>
                <a:ea typeface="Arial"/>
                <a:cs typeface="Arial"/>
                <a:sym typeface="Arial"/>
              </a:rPr>
              <a:t>INSTITUTO BRASILEIRO DE GEOGRAFIA E ESTATÍSTICA. C</a:t>
            </a:r>
            <a:r>
              <a:rPr lang="en-US" sz="842">
                <a:solidFill>
                  <a:srgbClr val="383838"/>
                </a:solidFill>
                <a:latin typeface="Arial"/>
                <a:ea typeface="Arial"/>
                <a:cs typeface="Arial"/>
                <a:sym typeface="Arial"/>
              </a:rPr>
              <a:t>e</a:t>
            </a:r>
            <a:r>
              <a:rPr lang="en-US" sz="842">
                <a:solidFill>
                  <a:srgbClr val="383838"/>
                </a:solidFill>
                <a:latin typeface="Arial"/>
                <a:ea typeface="Arial"/>
                <a:cs typeface="Arial"/>
                <a:sym typeface="Arial"/>
              </a:rPr>
              <a:t>n</a:t>
            </a:r>
            <a:r>
              <a:rPr lang="en-US" sz="842">
                <a:solidFill>
                  <a:srgbClr val="383838"/>
                </a:solidFill>
                <a:latin typeface="Arial"/>
                <a:ea typeface="Arial"/>
                <a:cs typeface="Arial"/>
                <a:sym typeface="Arial"/>
              </a:rPr>
              <a:t>s</a:t>
            </a:r>
            <a:r>
              <a:rPr lang="en-US" sz="842">
                <a:solidFill>
                  <a:srgbClr val="383838"/>
                </a:solidFill>
                <a:latin typeface="Arial"/>
                <a:ea typeface="Arial"/>
                <a:cs typeface="Arial"/>
                <a:sym typeface="Arial"/>
              </a:rPr>
              <a:t>o</a:t>
            </a:r>
            <a:r>
              <a:rPr lang="en-US" sz="842">
                <a:solidFill>
                  <a:srgbClr val="383838"/>
                </a:solidFill>
                <a:latin typeface="Arial"/>
                <a:ea typeface="Arial"/>
                <a:cs typeface="Arial"/>
                <a:sym typeface="Arial"/>
              </a:rPr>
              <a:t> </a:t>
            </a:r>
            <a:r>
              <a:rPr lang="en-US" sz="842">
                <a:solidFill>
                  <a:srgbClr val="383838"/>
                </a:solidFill>
                <a:latin typeface="Arial"/>
                <a:ea typeface="Arial"/>
                <a:cs typeface="Arial"/>
                <a:sym typeface="Arial"/>
              </a:rPr>
              <a:t>2020: ma</a:t>
            </a:r>
            <a:r>
              <a:rPr lang="en-US" sz="842">
                <a:solidFill>
                  <a:srgbClr val="383838"/>
                </a:solidFill>
                <a:latin typeface="Arial"/>
                <a:ea typeface="Arial"/>
                <a:cs typeface="Arial"/>
                <a:sym typeface="Arial"/>
              </a:rPr>
              <a:t>is de 4 </a:t>
            </a:r>
            <a:r>
              <a:rPr lang="en-US" sz="842">
                <a:solidFill>
                  <a:srgbClr val="383838"/>
                </a:solidFill>
                <a:latin typeface="Arial"/>
                <a:ea typeface="Arial"/>
                <a:cs typeface="Arial"/>
                <a:sym typeface="Arial"/>
              </a:rPr>
              <a:t>m</a:t>
            </a:r>
            <a:r>
              <a:rPr lang="en-US" sz="842">
                <a:solidFill>
                  <a:srgbClr val="383838"/>
                </a:solidFill>
                <a:latin typeface="Arial"/>
                <a:ea typeface="Arial"/>
                <a:cs typeface="Arial"/>
                <a:sym typeface="Arial"/>
              </a:rPr>
              <a:t>i</a:t>
            </a:r>
            <a:r>
              <a:rPr lang="en-US" sz="842">
                <a:solidFill>
                  <a:srgbClr val="383838"/>
                </a:solidFill>
                <a:latin typeface="Arial"/>
                <a:ea typeface="Arial"/>
                <a:cs typeface="Arial"/>
                <a:sym typeface="Arial"/>
              </a:rPr>
              <a:t>lhõe</a:t>
            </a:r>
            <a:r>
              <a:rPr lang="en-US" sz="842">
                <a:solidFill>
                  <a:srgbClr val="383838"/>
                </a:solidFill>
                <a:latin typeface="Arial"/>
                <a:ea typeface="Arial"/>
                <a:cs typeface="Arial"/>
                <a:sym typeface="Arial"/>
              </a:rPr>
              <a:t>s </a:t>
            </a:r>
            <a:r>
              <a:rPr lang="en-US" sz="842">
                <a:solidFill>
                  <a:srgbClr val="383838"/>
                </a:solidFill>
                <a:latin typeface="Arial"/>
                <a:ea typeface="Arial"/>
                <a:cs typeface="Arial"/>
                <a:sym typeface="Arial"/>
              </a:rPr>
              <a:t>de</a:t>
            </a:r>
            <a:r>
              <a:rPr lang="en-US" sz="842">
                <a:solidFill>
                  <a:srgbClr val="383838"/>
                </a:solidFill>
                <a:latin typeface="Arial"/>
                <a:ea typeface="Arial"/>
                <a:cs typeface="Arial"/>
                <a:sym typeface="Arial"/>
              </a:rPr>
              <a:t> i</a:t>
            </a:r>
            <a:r>
              <a:rPr lang="en-US" sz="842">
                <a:solidFill>
                  <a:srgbClr val="383838"/>
                </a:solidFill>
                <a:latin typeface="Arial"/>
                <a:ea typeface="Arial"/>
                <a:cs typeface="Arial"/>
                <a:sym typeface="Arial"/>
              </a:rPr>
              <a:t>dosos</a:t>
            </a:r>
            <a:r>
              <a:rPr lang="en-US" sz="842">
                <a:solidFill>
                  <a:srgbClr val="383838"/>
                </a:solidFill>
                <a:latin typeface="Arial"/>
                <a:ea typeface="Arial"/>
                <a:cs typeface="Arial"/>
                <a:sym typeface="Arial"/>
              </a:rPr>
              <a:t> vi</a:t>
            </a:r>
            <a:r>
              <a:rPr lang="en-US" sz="842">
                <a:solidFill>
                  <a:srgbClr val="383838"/>
                </a:solidFill>
                <a:latin typeface="Arial"/>
                <a:ea typeface="Arial"/>
                <a:cs typeface="Arial"/>
                <a:sym typeface="Arial"/>
              </a:rPr>
              <a:t>v</a:t>
            </a:r>
            <a:r>
              <a:rPr lang="en-US" sz="842">
                <a:solidFill>
                  <a:srgbClr val="383838"/>
                </a:solidFill>
                <a:latin typeface="Arial"/>
                <a:ea typeface="Arial"/>
                <a:cs typeface="Arial"/>
                <a:sym typeface="Arial"/>
              </a:rPr>
              <a:t>e</a:t>
            </a:r>
            <a:r>
              <a:rPr lang="en-US" sz="842">
                <a:solidFill>
                  <a:srgbClr val="383838"/>
                </a:solidFill>
                <a:latin typeface="Arial"/>
                <a:ea typeface="Arial"/>
                <a:cs typeface="Arial"/>
                <a:sym typeface="Arial"/>
              </a:rPr>
              <a:t>m sozinhos. Disponível em: https://www.ibge.gov.br/estatisticas/sociais/populacao/9109-projecao-dapopulacao.html?=&amp;t=resultados. Acesso em: 20 abr. 2026. </a:t>
            </a:r>
          </a:p>
          <a:p>
            <a:pPr algn="l">
              <a:lnSpc>
                <a:spcPts val="1011"/>
              </a:lnSpc>
            </a:pPr>
            <a:r>
              <a:rPr lang="en-US" sz="842">
                <a:solidFill>
                  <a:srgbClr val="383838"/>
                </a:solidFill>
                <a:latin typeface="Arial"/>
                <a:ea typeface="Arial"/>
                <a:cs typeface="Arial"/>
                <a:sym typeface="Arial"/>
              </a:rPr>
              <a:t>BORGES, Rafael. Automação residencial: soluções criativas e uso da tecnologia em arquitetura na promoção da saúde e qualidade de vida. 2023. Disponível em:https://www.locus.ufv.br/bitstream/123456789/7654/1/texto%20completo.pdf . Acesso em: 20 abr. 2026</a:t>
            </a:r>
          </a:p>
          <a:p>
            <a:pPr algn="l">
              <a:lnSpc>
                <a:spcPts val="1011"/>
              </a:lnSpc>
            </a:pPr>
            <a:r>
              <a:rPr lang="en-US" sz="842">
                <a:solidFill>
                  <a:srgbClr val="383838"/>
                </a:solidFill>
                <a:latin typeface="Arial"/>
                <a:ea typeface="Arial"/>
                <a:cs typeface="Arial"/>
                <a:sym typeface="Arial"/>
              </a:rPr>
              <a:t>INTELBRAS. O que é automação residencial? Veja na prática. Disponível em:https://blog.intelbras.com.br/o-que-e-automacao-residencial/ . Acesso em: 20 abr. 2026..</a:t>
            </a:r>
          </a:p>
          <a:p>
            <a:pPr algn="l">
              <a:lnSpc>
                <a:spcPts val="1011"/>
              </a:lnSpc>
            </a:pPr>
            <a:r>
              <a:rPr lang="en-US" sz="842">
                <a:solidFill>
                  <a:srgbClr val="383838"/>
                </a:solidFill>
                <a:latin typeface="Arial"/>
                <a:ea typeface="Arial"/>
                <a:cs typeface="Arial"/>
                <a:sym typeface="Arial"/>
              </a:rPr>
              <a:t>WEG. Automação residencial: o que é, como funciona e quais as vantagens. Disponível em:</a:t>
            </a:r>
            <a:r>
              <a:rPr lang="en-US" sz="842">
                <a:solidFill>
                  <a:srgbClr val="383838"/>
                </a:solidFill>
                <a:latin typeface="Arial"/>
                <a:ea typeface="Arial"/>
                <a:cs typeface="Arial"/>
                <a:sym typeface="Arial"/>
                <a:hlinkClick r:id="rId4" tooltip="https://www.weg.net/tomadas/blog/tecnologia/automacaoresidencial-o-que-e-como-funciona-e-quais-as-vantagens/"/>
              </a:rPr>
              <a:t> https://www.weg.net/tomadas/blog/tecnologia/automacaoresidencial-o-que-e-como-funciona-e-quais-as-vantagens/</a:t>
            </a:r>
            <a:r>
              <a:rPr lang="en-US" sz="842">
                <a:solidFill>
                  <a:srgbClr val="383838"/>
                </a:solidFill>
                <a:latin typeface="Arial"/>
                <a:ea typeface="Arial"/>
                <a:cs typeface="Arial"/>
                <a:sym typeface="Arial"/>
              </a:rPr>
              <a:t>. Acesso em: 20 abr. 2026.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DAGfGjzSMgs</dc:identifier>
  <dcterms:modified xsi:type="dcterms:W3CDTF">2011-08-01T06:04:30Z</dcterms:modified>
  <cp:revision>1</cp:revision>
  <dc:title>Banner Introdução ECA</dc:title>
</cp:coreProperties>
</file>